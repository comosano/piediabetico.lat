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F52BA"/>
          </a:solidFill>
          <a:ln/>
        </p:spPr>
      </p:sp>
      <p:sp>
        <p:nvSpPr>
          <p:cNvPr id="4" name="Shape 2"/>
          <p:cNvSpPr/>
          <p:nvPr/>
        </p:nvSpPr>
        <p:spPr>
          <a:xfrm>
            <a:off x="2926080" y="3474720"/>
            <a:ext cx="3200400" cy="3200400"/>
          </a:xfrm>
          <a:prstGeom prst="ellipse">
            <a:avLst/>
          </a:prstGeom>
          <a:solidFill>
            <a:srgbClr val="1A6DD4"/>
          </a:solidFill>
          <a:ln w="12700">
            <a:solidFill>
              <a:srgbClr val="1A6D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200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piediabetico.lat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herramienta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 que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faltaba.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11480" y="38404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podologos, enfermeros, infectologos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diabetologos de Latinoamerica.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E8F0FE"/>
          </a:solidFill>
          <a:ln w="12700">
            <a:solidFill>
              <a:srgbClr val="C7D9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426464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5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 fotografica evolutiva del paciente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754880" y="214884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E8F0FE"/>
          </a:solidFill>
          <a:ln w="12700">
            <a:solidFill>
              <a:srgbClr val="C7D9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2295144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5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clinica especializada por perfil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54880" y="301752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E8F0FE"/>
          </a:solidFill>
          <a:ln w="12700">
            <a:solidFill>
              <a:srgbClr val="C7D9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3163824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5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Calculadoras IWGDF, TIMERS, antibioticos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754880" y="388620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E8F0FE"/>
          </a:solidFill>
          <a:ln w="12700">
            <a:solidFill>
              <a:srgbClr val="C7D9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4032504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5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Teleconsulta con historial completo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lo vivimos.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pie diabetico es la causa numero 1 de amputaciones no traumaticas.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el 85% se podrian prevenir.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2651760" cy="2606040"/>
          </a:xfrm>
          <a:prstGeom prst="roundRect">
            <a:avLst>
              <a:gd name="adj" fmla="val 4912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774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3090672"/>
            <a:ext cx="26517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amputaciones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traumaticas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podrian prevenir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13308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deteccion y seguimiento a tiempo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2240280"/>
            <a:ext cx="2651760" cy="2606040"/>
          </a:xfrm>
          <a:prstGeom prst="roundRect">
            <a:avLst>
              <a:gd name="adj" fmla="val 4912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23774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sistema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91840" y="3090672"/>
            <a:ext cx="26517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seguimiento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fotografico de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heridas accesible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91840" y="413308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espanol, gratuito y especializado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2240280"/>
            <a:ext cx="2651760" cy="2606040"/>
          </a:xfrm>
          <a:prstGeom prst="roundRect">
            <a:avLst>
              <a:gd name="adj" fmla="val 4912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23774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5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Lejos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126480" y="3090672"/>
            <a:ext cx="26517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especialista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en la ciudad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26480" y="413308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paciente rural no llega nunca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2926080" cy="384048"/>
          </a:xfrm>
          <a:prstGeom prst="roundRect">
            <a:avLst>
              <a:gd name="adj" fmla="val 47619"/>
            </a:avLst>
          </a:prstGeom>
          <a:solidFill>
            <a:srgbClr val="E3F5EF"/>
          </a:solidFill>
          <a:ln w="12700">
            <a:solidFill>
              <a:srgbClr val="E3F5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CORAZON DEL SISTEMA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 fotografica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evolutiva del paciente.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11480" y="2331720"/>
            <a:ext cx="1920240" cy="2514600"/>
          </a:xfrm>
          <a:prstGeom prst="roundRect">
            <a:avLst>
              <a:gd name="adj" fmla="val 6667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395728"/>
            <a:ext cx="640080" cy="640080"/>
          </a:xfrm>
          <a:prstGeom prst="ellipse">
            <a:avLst/>
          </a:prstGeom>
          <a:solidFill>
            <a:srgbClr val="0F52BA"/>
          </a:solidFill>
          <a:ln w="12700">
            <a:solidFill>
              <a:srgbClr val="0F52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3957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312724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F5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</a:t>
            </a:r>
            <a:endParaRPr lang="en-US" sz="14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F5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casa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11480" y="3822192"/>
            <a:ext cx="1920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Saca foto con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celular cada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dias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76272" y="278892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560320" y="2331720"/>
            <a:ext cx="1920240" cy="2514600"/>
          </a:xfrm>
          <a:prstGeom prst="roundRect">
            <a:avLst>
              <a:gd name="adj" fmla="val 6667"/>
            </a:avLst>
          </a:prstGeom>
          <a:solidFill>
            <a:srgbClr val="E3F5EF"/>
          </a:solidFill>
          <a:ln w="12700">
            <a:solidFill>
              <a:srgbClr val="E3F5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2395728"/>
            <a:ext cx="640080" cy="640080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23957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560320" y="312724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mide</a:t>
            </a:r>
            <a:endParaRPr lang="en-US" sz="14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herida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2560320" y="3822192"/>
            <a:ext cx="1920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cm2,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tejidos, cambio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respecto a antes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25112" y="278892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709160" y="2331720"/>
            <a:ext cx="1920240" cy="2514600"/>
          </a:xfrm>
          <a:prstGeom prst="roundRect">
            <a:avLst>
              <a:gd name="adj" fmla="val 6667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2395728"/>
            <a:ext cx="640080" cy="64008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23957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09160" y="312724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 ves</a:t>
            </a:r>
            <a:endParaRPr lang="en-US" sz="14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709160" y="3822192"/>
            <a:ext cx="1920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 de tiempo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desde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portal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73952" y="278892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858000" y="2331720"/>
            <a:ext cx="1920240" cy="2514600"/>
          </a:xfrm>
          <a:prstGeom prst="roundRect">
            <a:avLst>
              <a:gd name="adj" fmla="val 6667"/>
            </a:avLst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0" y="2395728"/>
            <a:ext cx="640080" cy="64008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0" y="23957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58000" y="312724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Especialista</a:t>
            </a:r>
            <a:endParaRPr lang="en-US" sz="14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remoto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858000" y="3822192"/>
            <a:ext cx="1920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 el historial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la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videollamada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3200400" cy="384048"/>
          </a:xfrm>
          <a:prstGeom prst="roundRect">
            <a:avLst>
              <a:gd name="adj" fmla="val 47619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5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PODOLOGO / ENFERMERO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consultorio digital,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siempre con vos.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2212848"/>
            <a:ext cx="2651760" cy="1207008"/>
          </a:xfrm>
          <a:prstGeom prst="roundRect">
            <a:avLst>
              <a:gd name="adj" fmla="val 9091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042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5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CAMARA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67004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con el celular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apps adicionales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2212848"/>
            <a:ext cx="2651760" cy="1207008"/>
          </a:xfrm>
          <a:prstGeom prst="roundRect">
            <a:avLst>
              <a:gd name="adj" fmla="val 9091"/>
            </a:avLst>
          </a:prstGeom>
          <a:solidFill>
            <a:srgbClr val="E3F5EF"/>
          </a:solidFill>
          <a:ln w="12700">
            <a:solidFill>
              <a:srgbClr val="E3F5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23042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EVOLUCION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267004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Evolucion visual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cada herida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2212848"/>
            <a:ext cx="2651760" cy="1207008"/>
          </a:xfrm>
          <a:prstGeom prst="roundRect">
            <a:avLst>
              <a:gd name="adj" fmla="val 9091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3042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267004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aposito usar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segun la herida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630168"/>
            <a:ext cx="2651760" cy="1207008"/>
          </a:xfrm>
          <a:prstGeom prst="roundRect">
            <a:avLst>
              <a:gd name="adj" fmla="val 9091"/>
            </a:avLst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7216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OFF-LOADING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08736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descarga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prescribir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91840" y="3630168"/>
            <a:ext cx="2651760" cy="1207008"/>
          </a:xfrm>
          <a:prstGeom prst="roundRect">
            <a:avLst>
              <a:gd name="adj" fmla="val 9091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37216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408736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 completa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paciente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26480" y="3630168"/>
            <a:ext cx="2651760" cy="1207008"/>
          </a:xfrm>
          <a:prstGeom prst="roundRect">
            <a:avLst>
              <a:gd name="adj" fmla="val 9091"/>
            </a:avLst>
          </a:prstGeom>
          <a:solidFill>
            <a:srgbClr val="F5EEF8"/>
          </a:solidFill>
          <a:ln w="12700">
            <a:solidFill>
              <a:srgbClr val="F5EE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37216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408736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 por mail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WhatsApp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2743200" cy="384048"/>
          </a:xfrm>
          <a:prstGeom prst="roundRect">
            <a:avLst>
              <a:gd name="adj" fmla="val 47619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INFECTOLOGO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esquema correcto,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ajustado al paciente.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02920" y="2212848"/>
            <a:ext cx="4023360" cy="2697480"/>
          </a:xfrm>
          <a:prstGeom prst="roundRect">
            <a:avLst>
              <a:gd name="adj" fmla="val 474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317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Calculadora de antibioticos IDSA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Gravedad: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23160" y="27889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26440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Creatinina srica: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32644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 mg/dL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73989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Sospecha SAMR: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23160" y="373989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21538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eGFR calculado: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23160" y="421538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mL/min  ALERTA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212848"/>
            <a:ext cx="4023360" cy="2697480"/>
          </a:xfrm>
          <a:prstGeom prst="roundRect">
            <a:avLst>
              <a:gd name="adj" fmla="val 4746"/>
            </a:avLst>
          </a:prstGeom>
          <a:solidFill>
            <a:srgbClr val="FDECEA"/>
          </a:solidFill>
          <a:ln w="12700">
            <a:solidFill>
              <a:srgbClr val="F5C6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3317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Esquema sugerido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274320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Pip-Taz 3.375g IV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6 horas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892040" y="349300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 renal activo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eGFR &lt; 30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4041648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Historial fotografico del paciente disponible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Novedades guias IDSA/IWGDF esta semana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2743200" cy="384048"/>
          </a:xfrm>
          <a:prstGeom prst="roundRect">
            <a:avLst>
              <a:gd name="adj" fmla="val 47619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DIABETOLOGO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8229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HbA1c impacta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cicatrizacion.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 lo podes ver.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1984248" cy="2331720"/>
          </a:xfrm>
          <a:prstGeom prst="roundRect">
            <a:avLst>
              <a:gd name="adj" fmla="val 6452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43200"/>
            <a:ext cx="19842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HbA1c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18688"/>
            <a:ext cx="198424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Correlacion HbA1c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velocidad de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 la ulcera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24328" y="2606040"/>
            <a:ext cx="1984248" cy="2331720"/>
          </a:xfrm>
          <a:prstGeom prst="roundRect">
            <a:avLst>
              <a:gd name="adj" fmla="val 6452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24328" y="2743200"/>
            <a:ext cx="19842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5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IWGDF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24328" y="3218688"/>
            <a:ext cx="198424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Estratificacion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Grupos 0 a 3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plan de seguimiento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91456" y="2606040"/>
            <a:ext cx="1984248" cy="2331720"/>
          </a:xfrm>
          <a:prstGeom prst="roundRect">
            <a:avLst>
              <a:gd name="adj" fmla="val 6452"/>
            </a:avLst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1456" y="2743200"/>
            <a:ext cx="19842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VASCULAR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91456" y="3218688"/>
            <a:ext cx="198424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Evaluacion ITB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Monofilamento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Charcot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58584" y="2606040"/>
            <a:ext cx="1984248" cy="2331720"/>
          </a:xfrm>
          <a:prstGeom prst="roundRect">
            <a:avLst>
              <a:gd name="adj" fmla="val 6452"/>
            </a:avLst>
          </a:prstGeom>
          <a:solidFill>
            <a:srgbClr val="E3F5EF"/>
          </a:solidFill>
          <a:ln w="12700">
            <a:solidFill>
              <a:srgbClr val="E3F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58584" y="2743200"/>
            <a:ext cx="19842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58584" y="3218688"/>
            <a:ext cx="198424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completo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cada paciente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su historia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un chatbot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gentrico.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una IA entrenada en pie diabetico que habla distinto segun quien pregunta.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28803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48840" y="28803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"Mi herida esta mejorando?"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2862072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  Responde con datos reales: area bajo de 4.2 a 3.1 cm2. Instrucciones simples de seguimiento.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447288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353872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Podologo: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48840" y="353872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"Exudado aumentado, bordes enrollados."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3520440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  TIMERS: bordes estancados. Sugiere desbridamiento + aposito especifico. Control en 48 hs.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105656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419709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Infectologo: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48840" y="419709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"PCR 220, creatinina 1.9, fiebre."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4178808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  Infeccion grave: Pip-Taz 3.375g IV/6h ajustado por eGFR 32. Cobertura SAMR si no mejora.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paciente que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llega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especialista.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852160" y="320040"/>
            <a:ext cx="3017520" cy="4526280"/>
          </a:xfrm>
          <a:prstGeom prst="roundRect">
            <a:avLst>
              <a:gd name="adj" fmla="val 4848"/>
            </a:avLst>
          </a:prstGeom>
          <a:solidFill>
            <a:srgbClr val="E8F0FE"/>
          </a:solidFill>
          <a:ln w="12700">
            <a:solidFill>
              <a:srgbClr val="C7D9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0" y="5029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5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piediabetico.lat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89320" y="1106424"/>
            <a:ext cx="274320" cy="274320"/>
          </a:xfrm>
          <a:prstGeom prst="ellipse">
            <a:avLst/>
          </a:prstGeom>
          <a:solidFill>
            <a:srgbClr val="0F52BA"/>
          </a:solidFill>
          <a:ln w="12700">
            <a:solidFill>
              <a:srgbClr val="0F52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05156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Sube fotos desde su casa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89320" y="1764792"/>
            <a:ext cx="274320" cy="274320"/>
          </a:xfrm>
          <a:prstGeom prst="ellipse">
            <a:avLst/>
          </a:prstGeom>
          <a:solidFill>
            <a:srgbClr val="0F52BA"/>
          </a:solidFill>
          <a:ln w="12700">
            <a:solidFill>
              <a:srgbClr val="0F52B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70992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podologo las ve en tiempo real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89320" y="2423160"/>
            <a:ext cx="274320" cy="274320"/>
          </a:xfrm>
          <a:prstGeom prst="ellipse">
            <a:avLst/>
          </a:prstGeom>
          <a:solidFill>
            <a:srgbClr val="0F52BA"/>
          </a:solidFill>
          <a:ln w="12700">
            <a:solidFill>
              <a:srgbClr val="0F52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368296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medico rural tiene su ficha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89320" y="3081528"/>
            <a:ext cx="274320" cy="274320"/>
          </a:xfrm>
          <a:prstGeom prst="ellipse">
            <a:avLst/>
          </a:prstGeom>
          <a:solidFill>
            <a:srgbClr val="0F52BA"/>
          </a:solidFill>
          <a:ln w="12700">
            <a:solidFill>
              <a:srgbClr val="0F52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3026664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Solicita videollamada al especialista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89320" y="3739896"/>
            <a:ext cx="274320" cy="274320"/>
          </a:xfrm>
          <a:prstGeom prst="ellipse">
            <a:avLst/>
          </a:prstGeom>
          <a:solidFill>
            <a:srgbClr val="0F52BA"/>
          </a:solidFill>
          <a:ln w="12700">
            <a:solidFill>
              <a:srgbClr val="0F52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3685032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especialista ve TODO antes de atender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2423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2852928"/>
            <a:ext cx="5029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 Viaja horas para una curacion de 10 minutos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3328416"/>
            <a:ext cx="5029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 El medico local no sabe de pie diabetico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3803904"/>
            <a:ext cx="5029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 No hay seguimiento entre consultas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4279392"/>
            <a:ext cx="5029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 Llega cuando la herida ya requiere cirugia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Gratis para empezar.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para crecer.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4023360" cy="2971800"/>
          </a:xfrm>
          <a:prstGeom prst="roundRect">
            <a:avLst>
              <a:gd name="adj" fmla="val 492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01168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GRATIS - siempre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54203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Calculadoras clinicas ilimitadas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2980944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IA de consulta clinica por perfil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3419856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Guias IWGDF/IDSA actualizadas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385876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PDFs clinicos descargables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429768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Hasta 5 pacientes en ficha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663440" y="1874520"/>
            <a:ext cx="4023360" cy="2971800"/>
          </a:xfrm>
          <a:prstGeom prst="roundRect">
            <a:avLst>
              <a:gd name="adj" fmla="val 4923"/>
            </a:avLst>
          </a:prstGeom>
          <a:solidFill>
            <a:srgbClr val="0F52BA"/>
          </a:solidFill>
          <a:ln w="12700">
            <a:solidFill>
              <a:srgbClr val="0F52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1627632"/>
            <a:ext cx="1463040" cy="347472"/>
          </a:xfrm>
          <a:prstGeom prst="roundRect">
            <a:avLst>
              <a:gd name="adj" fmla="val 4736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16276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 POPULAR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0600" y="201168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Pro - USD 20/mes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00600" y="254203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Todo lo gratuito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800600" y="298094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Pacientes ilimitados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800600" y="341985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Analisis IA de fotos (area + tejidos)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00600" y="385876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Videollamada integrada con historial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00600" y="429768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Compartir ficha con el equipo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Estamos construyendo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 ahora.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75564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necesitamos tu mirada clinica para que sea la herramienta que realmente necesitas.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487168"/>
            <a:ext cx="1993392" cy="2423160"/>
          </a:xfrm>
          <a:prstGeom prst="roundRect">
            <a:avLst>
              <a:gd name="adj" fmla="val 6422"/>
            </a:avLst>
          </a:prstGeom>
          <a:solidFill>
            <a:srgbClr val="E3F5EF"/>
          </a:solidFill>
          <a:ln w="12700">
            <a:solidFill>
              <a:srgbClr val="E3F5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633472"/>
            <a:ext cx="1993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Septiembre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19933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funcional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piediabetico.lat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633472" y="2487168"/>
            <a:ext cx="1993392" cy="2423160"/>
          </a:xfrm>
          <a:prstGeom prst="roundRect">
            <a:avLst>
              <a:gd name="adj" fmla="val 6422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33472" y="2633472"/>
            <a:ext cx="1993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5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Noviembre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5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33472" y="3337560"/>
            <a:ext cx="19933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ALAD Cusco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09744" y="2487168"/>
            <a:ext cx="1993392" cy="2423160"/>
          </a:xfrm>
          <a:prstGeom prst="roundRect">
            <a:avLst>
              <a:gd name="adj" fmla="val 6422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9744" y="2633472"/>
            <a:ext cx="1993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Diciembre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9744" y="3337560"/>
            <a:ext cx="19933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AMEXIPIED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Zacatecas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986016" y="2487168"/>
            <a:ext cx="1993392" cy="2423160"/>
          </a:xfrm>
          <a:prstGeom prst="roundRect">
            <a:avLst>
              <a:gd name="adj" fmla="val 6422"/>
            </a:avLst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86016" y="2633472"/>
            <a:ext cx="1993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86016" y="3337560"/>
            <a:ext cx="19933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Escalado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LATAM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52BA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0" y="2286000"/>
            <a:ext cx="5486400" cy="5486400"/>
          </a:xfrm>
          <a:prstGeom prst="ellipse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-1371600"/>
            <a:ext cx="3657600" cy="36576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31520"/>
            <a:ext cx="5943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Queres ser parte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equipo medico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lo valida?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  Ser asesor clinico del proyecto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356616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  Probar el MVP en septiembre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  Presentarlo en tu congreso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48640" y="438912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  Conectarnos con tu red profesional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47365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piediabetico.lat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2026-08-22T16:03:43Z</dcterms:created>
  <dcterms:modified xsi:type="dcterms:W3CDTF">2026-08-22T16:03:43Z</dcterms:modified>
</cp:coreProperties>
</file>